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8" d="100"/>
          <a:sy n="88" d="100"/>
        </p:scale>
        <p:origin x="6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Logistic Reg.</c:v>
                </c:pt>
                <c:pt idx="1">
                  <c:v>Naive Bayes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92</c:v>
                </c:pt>
                <c:pt idx="1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4B-4390-B581-9621DF8B9D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0F5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Logistic Reg.</c:v>
                </c:pt>
                <c:pt idx="1">
                  <c:v>Naive Bayes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91</c:v>
                </c:pt>
                <c:pt idx="1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4B-4390-B581-9621DF8B9D3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Logistic Reg.</c:v>
                </c:pt>
                <c:pt idx="1">
                  <c:v>Naive Bayes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93</c:v>
                </c:pt>
                <c:pt idx="1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74B-4390-B581-9621DF8B9D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70"/>
        </c:scaling>
        <c:delete val="0"/>
        <c:axPos val="l"/>
        <c:majorGridlines>
          <c:spPr>
            <a:ln w="6350" cap="flat">
              <a:solidFill>
                <a:srgbClr val="1E2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203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4950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00F5FF">
              <a:alpha val="10000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3657600"/>
            <a:ext cx="2286000" cy="2286000"/>
          </a:xfrm>
          <a:prstGeom prst="ellipse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02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b="1" kern="0" spc="200" dirty="0">
              <a:solidFill>
                <a:srgbClr val="00F5FF"/>
              </a:solidFill>
            </a:endParaRPr>
          </a:p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73152" cy="2194560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144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3611880" y="9144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Toxic Content Detection powered by Machine Learning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5486400" cy="18288"/>
          </a:xfrm>
          <a:prstGeom prst="rect">
            <a:avLst/>
          </a:prstGeom>
          <a:solidFill>
            <a:srgbClr val="00F5FF">
              <a:alpha val="60000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971800"/>
            <a:ext cx="2011680" cy="123444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00F5FF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017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3.2M+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080" y="3611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posts/day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26080" y="2971800"/>
            <a:ext cx="2011680" cy="123444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00F5FF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926080" y="3017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926080" y="3611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lag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12080" y="2971800"/>
            <a:ext cx="2011680" cy="123444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00F5FF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12080" y="3017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&lt;50ms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212080" y="3611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GuardAI latency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343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User-generated content platforms face an unprecedented surge in harmful, toxic, and abusive content. Manual moderation is slow, inconsistent, and unscalable. GuardAI is an automated, low-latency, and highly accurate ML-based solution that classifies content across 6 toxicity categories in real time.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132320" y="914400"/>
            <a:ext cx="1828800" cy="329184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3232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0F5FF"/>
                </a:solidFill>
              </a:rPr>
              <a:t>TECH STACK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242048" y="1298448"/>
            <a:ext cx="45720" cy="164592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12618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Python 3.11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242048" y="1636776"/>
            <a:ext cx="45720" cy="164592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60920" y="1600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scikit-learn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242048" y="1975104"/>
            <a:ext cx="45720" cy="164592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60920" y="19385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TF-IDF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242048" y="2313432"/>
            <a:ext cx="45720" cy="164592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60920" y="227685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Logistic Reg.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242048" y="2651760"/>
            <a:ext cx="45720" cy="164592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60920" y="261518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Vercel API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242048" y="2990088"/>
            <a:ext cx="45720" cy="164592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60920" y="29535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joblib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01 / 08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</a:rPr>
              <a:t>End-to-end ML pipeline built for serverless deployment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508760" cy="1005840"/>
          </a:xfrm>
          <a:prstGeom prst="rect">
            <a:avLst/>
          </a:prstGeom>
          <a:solidFill>
            <a:srgbClr val="162038"/>
          </a:solidFill>
          <a:ln w="19050">
            <a:solidFill>
              <a:srgbClr val="7C3AED"/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15087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8013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Raw Text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74520" y="1783080"/>
            <a:ext cx="182880" cy="228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70992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57400" y="1325880"/>
            <a:ext cx="1508760" cy="1005840"/>
          </a:xfrm>
          <a:prstGeom prst="rect">
            <a:avLst/>
          </a:prstGeom>
          <a:solidFill>
            <a:srgbClr val="162038"/>
          </a:solidFill>
          <a:ln w="19050">
            <a:solidFill>
              <a:srgbClr val="00F5FF"/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57400" y="1325880"/>
            <a:ext cx="1508760" cy="73152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14173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57400" y="18013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Clean &amp; Normalize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66160" y="1783080"/>
            <a:ext cx="182880" cy="228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170992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49040" y="1325880"/>
            <a:ext cx="1508760" cy="1005840"/>
          </a:xfrm>
          <a:prstGeom prst="rect">
            <a:avLst/>
          </a:prstGeom>
          <a:solidFill>
            <a:srgbClr val="162038"/>
          </a:solidFill>
          <a:ln w="19050">
            <a:solidFill>
              <a:srgbClr val="10B981"/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49040" y="1325880"/>
            <a:ext cx="15087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4173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49040" y="18013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Feature Extraction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57800" y="1783080"/>
            <a:ext cx="182880" cy="228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170992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40680" y="1325880"/>
            <a:ext cx="1508760" cy="1005840"/>
          </a:xfrm>
          <a:prstGeom prst="rect">
            <a:avLst/>
          </a:prstGeom>
          <a:solidFill>
            <a:srgbClr val="162038"/>
          </a:solidFill>
          <a:ln w="19050">
            <a:solidFill>
              <a:srgbClr val="F59E0B"/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40680" y="1325880"/>
            <a:ext cx="1508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0680" y="14173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40680" y="18013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Logistic Regression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49440" y="1783080"/>
            <a:ext cx="182880" cy="228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86600" y="170992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32320" y="1325880"/>
            <a:ext cx="1508760" cy="1005840"/>
          </a:xfrm>
          <a:prstGeom prst="rect">
            <a:avLst/>
          </a:prstGeom>
          <a:solidFill>
            <a:srgbClr val="162038"/>
          </a:solidFill>
          <a:ln w="19050">
            <a:solidFill>
              <a:srgbClr val="EF4444"/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0" y="1325880"/>
            <a:ext cx="150876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14173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32320" y="18013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JSON Scores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2651760"/>
            <a:ext cx="8412480" cy="640080"/>
          </a:xfrm>
          <a:prstGeom prst="rect">
            <a:avLst/>
          </a:prstGeom>
          <a:solidFill>
            <a:srgbClr val="162038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2697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5FF"/>
                </a:solidFill>
              </a:rPr>
              <a:t>☁  Deployed as Serverless Functions on Vercel — zero cold start, global CDN, sub-50ms inference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3429000"/>
            <a:ext cx="1920240" cy="146304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00F5FF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34930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5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14400" y="3822192"/>
            <a:ext cx="822960" cy="13716"/>
          </a:xfrm>
          <a:prstGeom prst="rect">
            <a:avLst/>
          </a:prstGeom>
          <a:solidFill>
            <a:srgbClr val="00F5FF">
              <a:alpha val="50000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886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HTML5 + CSS3 + JS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65760" y="4160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Glassmorphism UI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5760" y="44348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SVG Progress Rings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514600" y="3429000"/>
            <a:ext cx="1920240" cy="146304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514600" y="34930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</a:rPr>
              <a:t>Backend API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063240" y="3822192"/>
            <a:ext cx="822960" cy="13716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14600" y="3886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Python 3.11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514600" y="4160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Vercel Serverless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514600" y="44348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REST JSON endpoint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63440" y="3429000"/>
            <a:ext cx="1920240" cy="146304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663440" y="34930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ML Engine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212080" y="3822192"/>
            <a:ext cx="822960" cy="13716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63440" y="3886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scikit-learn OvR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663440" y="4160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Logistic Regression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663440" y="44348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10K TF-IDF features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812280" y="3429000"/>
            <a:ext cx="1920240" cy="146304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812280" y="34930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</a:rPr>
              <a:t>Serialization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360920" y="3822192"/>
            <a:ext cx="822960" cy="13716"/>
          </a:xfrm>
          <a:prstGeom prst="rect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12280" y="3886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joblib model dump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812280" y="4160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Fast deserialization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812280" y="44348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Model versioning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02 / 08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Data Preprocessing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</a:rPr>
              <a:t>Reducing noise so the ML model focuses on semantic meaning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840480" cy="228600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0B981"/>
                </a:solidFill>
              </a:rPr>
              <a:t>DATASET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Toxic Comment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Challenge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2377440"/>
            <a:ext cx="1097280" cy="640080"/>
          </a:xfrm>
          <a:prstGeom prst="rect">
            <a:avLst/>
          </a:prstGeom>
          <a:solidFill>
            <a:srgbClr val="0A0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957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</a:rPr>
              <a:t>~160K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Comments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37360" y="2377440"/>
            <a:ext cx="1097280" cy="640080"/>
          </a:xfrm>
          <a:prstGeom prst="rect">
            <a:avLst/>
          </a:prstGeom>
          <a:solidFill>
            <a:srgbClr val="0A0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23957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</a:rPr>
              <a:t>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0" y="2743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Label Types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71800" y="2377440"/>
            <a:ext cx="1097280" cy="640080"/>
          </a:xfrm>
          <a:prstGeom prst="rect">
            <a:avLst/>
          </a:prstGeom>
          <a:solidFill>
            <a:srgbClr val="0A0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23957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</a:rPr>
              <a:t>~10%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971800" y="2743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Toxic Rate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80560" y="1234440"/>
            <a:ext cx="4389120" cy="228600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00F5FF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0" y="1280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F5FF"/>
                </a:solidFill>
              </a:rPr>
              <a:t>PREPROCESSING PIPELINE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17720" y="1664208"/>
            <a:ext cx="320040" cy="292608"/>
          </a:xfrm>
          <a:prstGeom prst="rect">
            <a:avLst/>
          </a:prstGeom>
          <a:solidFill>
            <a:srgbClr val="00F5FF">
              <a:alpha val="30000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166420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F5FF"/>
                </a:solidFill>
              </a:rPr>
              <a:t>01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0" y="16642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Lowercasing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16642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Normalize text case uniformity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17720" y="2121408"/>
            <a:ext cx="320040" cy="292608"/>
          </a:xfrm>
          <a:prstGeom prst="rect">
            <a:avLst/>
          </a:prstGeom>
          <a:solidFill>
            <a:srgbClr val="00F5FF">
              <a:alpha val="30000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212140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F5FF"/>
                </a:solidFill>
              </a:rPr>
              <a:t>02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29200" y="21214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Remove URLs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21214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Strip http/https links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17720" y="2578608"/>
            <a:ext cx="320040" cy="292608"/>
          </a:xfrm>
          <a:prstGeom prst="rect">
            <a:avLst/>
          </a:prstGeom>
          <a:solidFill>
            <a:srgbClr val="00F5FF">
              <a:alpha val="30000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257860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F5FF"/>
                </a:solidFill>
              </a:rPr>
              <a:t>03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29200" y="25786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Strip HTML Tags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25786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Remove &lt;br&gt;, &lt;p&gt; markup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17720" y="3035808"/>
            <a:ext cx="320040" cy="292608"/>
          </a:xfrm>
          <a:prstGeom prst="rect">
            <a:avLst/>
          </a:prstGeom>
          <a:solidFill>
            <a:srgbClr val="00F5FF">
              <a:alpha val="30000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303580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F5FF"/>
                </a:solidFill>
              </a:rPr>
              <a:t>04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29200" y="30358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Remove Special Chars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0" y="30358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Keep only alphanumeric tokens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3703320"/>
            <a:ext cx="8412480" cy="123444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94360" y="3749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Preprocessing pipeline (Python)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94360" y="39776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 text.lower()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94360" y="41605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 re.sub(r'http\S+', '', text)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94360" y="43434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 re.sub(r'&lt;.*?&gt;', '', text)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0" y="39776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 re.sub(r'[^a-z0-9\s]', '', text)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0" y="41605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text.strip()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03 / 08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59E0B"/>
                </a:solidFill>
              </a:rPr>
              <a:t>TF-IDF: Term Frequency – Inverse Document Frequency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029200" cy="128016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801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59E0B"/>
                </a:solidFill>
              </a:rPr>
              <a:t>TF-IDF Formula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TF-IDF(t,d) = TF(t,d)  ×  log( N / df(t) 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199339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</a:rPr>
              <a:t>where N = total docs, df(t) = docs containing term 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77840" y="1234440"/>
            <a:ext cx="3291840" cy="128016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00F5FF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15000" y="1280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F5FF"/>
                </a:solidFill>
              </a:rPr>
              <a:t>Vectorizer Config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15000" y="160020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max_features: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60920" y="160020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10,000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15000" y="187452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ngram_range: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60920" y="187452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(1, 2)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15000" y="214884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analyzer: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60920" y="214884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697480"/>
            <a:ext cx="4160520" cy="118872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697480"/>
            <a:ext cx="54864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788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Term Frequency (TF)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13639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How often a word appears in a document. Common words in the doc score higher.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2697480"/>
            <a:ext cx="4160520" cy="118872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697480"/>
            <a:ext cx="54864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788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Inverse Doc Frequency (IDF)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313639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Penalizes common words like 'the', 'is'. Rare, meaningful words get higher IDF.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023360"/>
            <a:ext cx="4160520" cy="118872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023360"/>
            <a:ext cx="54864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114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N-grams (bigrams)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446227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Captures word pairs like 'not toxic', 'hate speech'. Critical for negation handling.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4023360"/>
            <a:ext cx="4160520" cy="118872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00F5FF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4023360"/>
            <a:ext cx="54864" cy="1188720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4114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5FF"/>
                </a:solidFill>
              </a:rPr>
              <a:t>10K Vocabulary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37760" y="446227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Top 10,000 most informative features selected from 160K training samples.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04 / 08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00F5FF">
              <a:alpha val="10000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 Evaluation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</a:rPr>
              <a:t>One-Vs-Rest strategy enables multi-label classification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196596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98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C3AED"/>
                </a:solidFill>
              </a:rPr>
              <a:t>ONE-VS-REST (OvR) STRATEGY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Trains one binary classifier per category. A comment is independently evaluated against each label simultaneously — enabling overlapping classifications like Toxic + Insult + Obscene in a single pass.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4114800" cy="196596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298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0B981"/>
                </a:solidFill>
              </a:rPr>
              <a:t>MODEL COMPARISON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1691640"/>
            <a:ext cx="3931920" cy="658368"/>
          </a:xfrm>
          <a:prstGeom prst="rect">
            <a:avLst/>
          </a:prstGeom>
          <a:solidFill>
            <a:srgbClr val="1E2A4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691640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0" y="170992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</a:rPr>
              <a:t>★ WINNER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937760" y="1737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Logistic Regression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0391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F1: 92%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0" y="20391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Prec: 91%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0" y="20391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Rec: 93%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423160"/>
            <a:ext cx="3931920" cy="658368"/>
          </a:xfrm>
          <a:prstGeom prst="rect">
            <a:avLst/>
          </a:prstGeom>
          <a:solidFill>
            <a:srgbClr val="0F1629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468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Multinomial Naive Bayes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770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F1: 84%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2770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Prec: 86%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0" y="2770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Rec: 82%</a:t>
            </a:r>
            <a:endParaRPr lang="en-US" sz="10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365760" y="3291840"/>
          <a:ext cx="841248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 20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05 / 08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Categories of Toxicity Detected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BD5E1"/>
                </a:solidFill>
              </a:rPr>
              <a:t>Individual probability scores returned per category — enabling granular moderation control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97480" cy="169164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441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EF4444"/>
                </a:solidFill>
              </a:rPr>
              <a:t>TOXIC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2103120" cy="137160"/>
          </a:xfrm>
          <a:prstGeom prst="rect">
            <a:avLst/>
          </a:prstGeom>
          <a:solidFill>
            <a:srgbClr val="0A0E1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91640"/>
            <a:ext cx="1640434" cy="137160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</a:rPr>
              <a:t>78%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sample probability score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23500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General harmful or rude content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1234440"/>
            <a:ext cx="2697480" cy="169164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29000" y="13441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DC2626"/>
                </a:solidFill>
              </a:rPr>
              <a:t>SEVERE TOXIC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29000" y="1691640"/>
            <a:ext cx="2103120" cy="137160"/>
          </a:xfrm>
          <a:prstGeom prst="rect">
            <a:avLst/>
          </a:prstGeom>
          <a:solidFill>
            <a:srgbClr val="0A0E1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1691640"/>
            <a:ext cx="946404" cy="137160"/>
          </a:xfrm>
          <a:prstGeom prst="rect">
            <a:avLst/>
          </a:prstGeom>
          <a:solidFill>
            <a:srgbClr val="DC2626">
              <a:alpha val="7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</a:rPr>
              <a:t>45%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429000" y="21488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sample probability score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29000" y="23500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Extreme, highly offensive language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1234440"/>
            <a:ext cx="2697480" cy="169164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55080" y="13441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7C3AED"/>
                </a:solidFill>
              </a:rPr>
              <a:t>OBSCENE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1691640"/>
            <a:ext cx="2103120" cy="137160"/>
          </a:xfrm>
          <a:prstGeom prst="rect">
            <a:avLst/>
          </a:prstGeom>
          <a:solidFill>
            <a:srgbClr val="0A0E1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1691640"/>
            <a:ext cx="1282903" cy="137160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</a:rPr>
              <a:t>61%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355080" y="21488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sample probability score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55080" y="23500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Explicit or vulgar content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108960"/>
            <a:ext cx="2697480" cy="169164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32186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F59E0B"/>
                </a:solidFill>
              </a:rPr>
              <a:t>THREAT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3566160"/>
            <a:ext cx="2103120" cy="137160"/>
          </a:xfrm>
          <a:prstGeom prst="rect">
            <a:avLst/>
          </a:prstGeom>
          <a:solidFill>
            <a:srgbClr val="0A0E1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566160"/>
            <a:ext cx="694030" cy="137160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749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</a:rPr>
              <a:t>33%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02920" y="40233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sample probability score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2920" y="42245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Threatening language or intent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91840" y="3108960"/>
            <a:ext cx="2697480" cy="169164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429000" y="32186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0B981"/>
                </a:solidFill>
              </a:rPr>
              <a:t>INSULT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429000" y="3566160"/>
            <a:ext cx="2103120" cy="137160"/>
          </a:xfrm>
          <a:prstGeom prst="rect">
            <a:avLst/>
          </a:prstGeom>
          <a:solidFill>
            <a:srgbClr val="0A0E1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29000" y="3566160"/>
            <a:ext cx="1156716" cy="13716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29000" y="3749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</a:rPr>
              <a:t>55%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3429000" y="40233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sample probability score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429000" y="42245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Personal attacks or slurs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17920" y="3108960"/>
            <a:ext cx="2697480" cy="169164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355080" y="32186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F97316"/>
                </a:solidFill>
              </a:rPr>
              <a:t>IDENTITY HATE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55080" y="3566160"/>
            <a:ext cx="2103120" cy="137160"/>
          </a:xfrm>
          <a:prstGeom prst="rect">
            <a:avLst/>
          </a:prstGeom>
          <a:solidFill>
            <a:srgbClr val="0A0E1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55080" y="3566160"/>
            <a:ext cx="588874" cy="137160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3749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7316"/>
                </a:solidFill>
              </a:rPr>
              <a:t>28%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355080" y="40233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sample probability score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355080" y="42245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Hate based on identity/group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solidFill>
            <a:srgbClr val="162038"/>
          </a:solidFill>
          <a:ln w="6350">
            <a:solidFill>
              <a:srgbClr val="00F5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477316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returns: { toxic: 0.78, severe_toxic: 0.45, obscene: 0.61, threat: 0.33, insult: 0.55, identity_hate: 0.28 }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046720" y="4956048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06 / 08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743200"/>
            <a:ext cx="3200400" cy="3200400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Real-World Application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BD5E1"/>
                </a:solidFill>
              </a:rPr>
              <a:t>Serverless backend + Glassmorphism UI + plug-and-play moderation API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69080" cy="205740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00F5FF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98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F5FF"/>
                </a:solidFill>
              </a:rPr>
              <a:t>BACKEND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Python Serverless REST API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993392"/>
            <a:ext cx="45720" cy="164592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96596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Deployed on Vercel Functions (zero cold start)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267712"/>
            <a:ext cx="45720" cy="164592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24028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Accepts POST JSON → returns toxicity scores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542032"/>
            <a:ext cx="45720" cy="164592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51460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Model loaded with joblib in &lt;5ms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816352"/>
            <a:ext cx="45720" cy="164592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78892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CORS-enabled for any frontend origin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1234440"/>
            <a:ext cx="4069080" cy="205740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1298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C3AED"/>
                </a:solidFill>
              </a:rPr>
              <a:t>FRONTEND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92040" y="15727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Glassmorphism UI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92040" y="1993392"/>
            <a:ext cx="45720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01768" y="196596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HTML5 + CSS3 + Vanilla JavaScript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92040" y="2267712"/>
            <a:ext cx="45720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01768" y="224028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SVG progress rings with animated fills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92040" y="2542032"/>
            <a:ext cx="45720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01768" y="251460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Real-time inference on text input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2816352"/>
            <a:ext cx="45720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01768" y="278892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Responsive, mobile-first design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4564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BD5E1"/>
                </a:solidFill>
              </a:rPr>
              <a:t>REAL-WORLD USE CASES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749040"/>
            <a:ext cx="2011680" cy="109728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00F5FF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749040"/>
            <a:ext cx="2011680" cy="54864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8221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5FF"/>
                </a:solidFill>
              </a:rPr>
              <a:t>Chat Apps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41605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Auto-flag toxic messages before delivery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0320" y="3749040"/>
            <a:ext cx="2011680" cy="109728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60320" y="3749040"/>
            <a:ext cx="20116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0" y="38221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</a:rPr>
              <a:t>Forums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560320" y="41605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Auto-moderate posts and comment threads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749040"/>
            <a:ext cx="2011680" cy="109728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749040"/>
            <a:ext cx="20116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8221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Social Media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54880" y="41605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Detect bad actors and shadow-ban content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949440" y="3749040"/>
            <a:ext cx="2011680" cy="109728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949440" y="3749040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0" y="38221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Gaming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49440" y="41605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Real-time voice/chat toxicity detection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57200" y="486460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🚀  github.com/Aryaremani/guardai  |  Deployed at guardai.vercel.app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046720" y="498348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07 / 08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0"/>
            <a:ext cx="3200400" cy="3200400"/>
          </a:xfrm>
          <a:prstGeom prst="ellipse">
            <a:avLst/>
          </a:prstGeom>
          <a:solidFill>
            <a:srgbClr val="00F5FF">
              <a:alpha val="8000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846320" cy="219456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44475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0B981"/>
                </a:solidFill>
              </a:rPr>
              <a:t>PROJECT SUMMARY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810512"/>
            <a:ext cx="4572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01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Low-Latency: 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1801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Sub-50ms inference via serverless architecture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203704"/>
            <a:ext cx="4572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194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6-Label Detection: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Simultaneous multi-category classification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596896"/>
            <a:ext cx="4572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87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Scalable: 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2587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Stateless API — scales to millions of requests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990088"/>
            <a:ext cx="4572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809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Production Ready: 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29809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Fully deployed on Vercel with frontend UI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40680" y="1371600"/>
            <a:ext cx="3383280" cy="219456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77840" y="14447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C3AED"/>
                </a:solidFill>
              </a:rPr>
              <a:t>FUTURE SCOPE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77840" y="1810512"/>
            <a:ext cx="292608" cy="237744"/>
          </a:xfrm>
          <a:prstGeom prst="rect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181051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</a:rPr>
              <a:t>01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943600" y="1810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Multi-lingual support (Hindi, Spanish, Arabic)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139696"/>
            <a:ext cx="292608" cy="237744"/>
          </a:xfrm>
          <a:prstGeom prst="rect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213969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</a:rPr>
              <a:t>02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0" y="21396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Upgrade to BERT / RoBERTa Transformers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468880"/>
            <a:ext cx="292608" cy="237744"/>
          </a:xfrm>
          <a:prstGeom prst="rect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246888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</a:rPr>
              <a:t>03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943600" y="2468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Detect implicit toxicity &amp; sarcasm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77840" y="2798064"/>
            <a:ext cx="292608" cy="237744"/>
          </a:xfrm>
          <a:prstGeom prst="rect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279806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</a:rPr>
              <a:t>04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943600" y="27980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Real-time streaming API with WebSockets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577840" y="3127248"/>
            <a:ext cx="292608" cy="237744"/>
          </a:xfrm>
          <a:prstGeom prst="rect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312724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</a:rPr>
              <a:t>05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943600" y="31272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Active learning with human-in-the-loop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3703320"/>
            <a:ext cx="8412480" cy="822960"/>
          </a:xfrm>
          <a:prstGeom prst="rect">
            <a:avLst/>
          </a:prstGeom>
          <a:solidFill>
            <a:srgbClr val="1E2A4A">
              <a:alpha val="80000"/>
            </a:srgbClr>
          </a:solidFill>
          <a:ln w="12700">
            <a:solidFill>
              <a:srgbClr val="00F5FF">
                <a:alpha val="40000"/>
              </a:srgbClr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48640" y="3749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F5FF"/>
                </a:solidFill>
              </a:rPr>
              <a:t>KEY ACHIEVEMENTS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31520" y="39776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F5FF"/>
                </a:solidFill>
              </a:rPr>
              <a:t>92%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731520" y="4270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F1 Score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194560" y="3995928"/>
            <a:ext cx="9144" cy="4114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31720" y="39776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F5FF"/>
                </a:solidFill>
              </a:rPr>
              <a:t>10K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2331720" y="4270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TF-IDF Features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794760" y="3995928"/>
            <a:ext cx="9144" cy="4114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31920" y="39776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F5FF"/>
                </a:solidFill>
              </a:rPr>
              <a:t>6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3931920" y="4270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Toxicity Labels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394960" y="3995928"/>
            <a:ext cx="9144" cy="4114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32120" y="39776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F5FF"/>
                </a:solidFill>
              </a:rPr>
              <a:t>&lt;50ms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5532120" y="4270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API Latency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995160" y="3995928"/>
            <a:ext cx="9144" cy="4114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32320" y="39776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F5FF"/>
                </a:solidFill>
              </a:rPr>
              <a:t>OvR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7132320" y="4270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Multi-Label Strategy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Questions?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8046720" y="498348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08 / 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879</Words>
  <Application>Microsoft Office PowerPoint</Application>
  <PresentationFormat>On-screen Show (16:9)</PresentationFormat>
  <Paragraphs>215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GuardAI - Automated Content Moderation System</dc:title>
  <dc:subject>PptxGenJS Presentation</dc:subject>
  <dc:creator>PptxGenJS</dc:creator>
  <cp:lastModifiedBy>DELL</cp:lastModifiedBy>
  <cp:revision>2</cp:revision>
  <dcterms:created xsi:type="dcterms:W3CDTF">2026-05-06T09:34:09Z</dcterms:created>
  <dcterms:modified xsi:type="dcterms:W3CDTF">2026-05-15T18:10:20Z</dcterms:modified>
</cp:coreProperties>
</file>